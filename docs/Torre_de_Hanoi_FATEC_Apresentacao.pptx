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vh-dev-fatec.github.io/torres-hanoi/" TargetMode="External"/><Relationship Id="rId2" Type="http://schemas.openxmlformats.org/officeDocument/2006/relationships/hyperlink" Target="https://github.com/vh-dev-fatec/torres-hanoi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25880" y="4160520"/>
            <a:ext cx="1828800" cy="310896"/>
          </a:xfrm>
          <a:prstGeom prst="roundRect">
            <a:avLst/>
          </a:prstGeom>
          <a:solidFill>
            <a:srgbClr val="2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577340" y="3794760"/>
            <a:ext cx="1325880" cy="310896"/>
          </a:xfrm>
          <a:prstGeom prst="roundRect">
            <a:avLst/>
          </a:prstGeom>
          <a:solidFill>
            <a:srgbClr val="2D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28800" y="3429000"/>
            <a:ext cx="822960" cy="310896"/>
          </a:xfrm>
          <a:prstGeom prst="roundRect">
            <a:avLst/>
          </a:prstGeom>
          <a:solidFill>
            <a:srgbClr val="FF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84831" y="2377440"/>
            <a:ext cx="109728" cy="1097280"/>
          </a:xfrm>
          <a:prstGeom prst="rect">
            <a:avLst/>
          </a:prstGeom>
          <a:solidFill>
            <a:srgbClr val="A0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4498848"/>
            <a:ext cx="2743200" cy="164592"/>
          </a:xfrm>
          <a:prstGeom prst="roundRect">
            <a:avLst/>
          </a:prstGeom>
          <a:solidFill>
            <a:srgbClr val="7A5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150876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8FAFC"/>
                </a:solidFill>
                <a:latin typeface="Aptos Display"/>
              </a:rPr>
              <a:t>Torre de Hanói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5032" y="2560320"/>
            <a:ext cx="7040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CDE1FF"/>
                </a:solidFill>
                <a:latin typeface="Aptos"/>
              </a:rPr>
              <a:t>Implementação web interativa com algoritmo recursivo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3794760"/>
            <a:ext cx="4680320" cy="9489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E2EAF4"/>
                </a:solidFill>
                <a:latin typeface="Aptos"/>
              </a:defRPr>
            </a:pPr>
            <a:r>
              <a:rPr dirty="0" err="1"/>
              <a:t>Vinicius</a:t>
            </a:r>
            <a:r>
              <a:rPr dirty="0"/>
              <a:t> </a:t>
            </a:r>
            <a:r>
              <a:rPr lang="pt-BR" dirty="0" smtClean="0"/>
              <a:t>Ferreira </a:t>
            </a:r>
            <a:r>
              <a:rPr dirty="0" smtClean="0"/>
              <a:t>• </a:t>
            </a:r>
            <a:r>
              <a:rPr dirty="0"/>
              <a:t>Henrique Camargo</a:t>
            </a:r>
          </a:p>
          <a:p>
            <a:pPr>
              <a:spcAft>
                <a:spcPts val="700"/>
              </a:spcAft>
              <a:defRPr sz="1400">
                <a:solidFill>
                  <a:srgbClr val="E2EAF4"/>
                </a:solidFill>
                <a:latin typeface="Aptos"/>
              </a:defRPr>
            </a:pPr>
            <a:r>
              <a:rPr dirty="0"/>
              <a:t>FATEC — </a:t>
            </a:r>
            <a:r>
              <a:rPr dirty="0" err="1"/>
              <a:t>Desenvolvimento</a:t>
            </a:r>
            <a:r>
              <a:rPr dirty="0"/>
              <a:t> de Software </a:t>
            </a:r>
            <a:r>
              <a:rPr dirty="0" err="1"/>
              <a:t>Multiplataforma</a:t>
            </a:r>
            <a:endParaRPr dirty="0"/>
          </a:p>
          <a:p>
            <a:pPr>
              <a:spcAft>
                <a:spcPts val="700"/>
              </a:spcAft>
              <a:defRPr sz="1400">
                <a:solidFill>
                  <a:srgbClr val="E2EAF4"/>
                </a:solidFill>
                <a:latin typeface="Aptos"/>
              </a:defRPr>
            </a:pPr>
            <a:r>
              <a:rPr dirty="0" err="1"/>
              <a:t>Setembro</a:t>
            </a:r>
            <a:r>
              <a:rPr dirty="0"/>
              <a:t> de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0B4CD"/>
                </a:solidFill>
                <a:latin typeface="Aptos"/>
              </a:rPr>
              <a:t>FATEC • Torre de Hanói   |  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502951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 dirty="0">
                <a:solidFill>
                  <a:srgbClr val="F8FAFC"/>
                </a:solidFill>
                <a:latin typeface="Aptos Display"/>
              </a:rPr>
              <a:t>1</a:t>
            </a:r>
            <a:r>
              <a:rPr lang="pt-BR" sz="2800" b="1" dirty="0" smtClean="0">
                <a:solidFill>
                  <a:srgbClr val="F8FAFC"/>
                </a:solidFill>
                <a:latin typeface="Aptos Display"/>
              </a:rPr>
              <a:t>. </a:t>
            </a:r>
            <a:r>
              <a:rPr lang="pt-BR" sz="2800" b="1" dirty="0">
                <a:solidFill>
                  <a:srgbClr val="F8FAFC"/>
                </a:solidFill>
                <a:latin typeface="Aptos Display"/>
              </a:rPr>
              <a:t>O que é a Torre de Hanói?</a:t>
            </a:r>
            <a:endParaRPr sz="2800" b="1" dirty="0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519244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300" dirty="0">
                <a:solidFill>
                  <a:srgbClr val="A0B4CD"/>
                </a:solidFill>
                <a:latin typeface="Aptos"/>
              </a:rPr>
              <a:t>Um quebra-cabeça matemático baseado em lógica e recursividade.</a:t>
            </a:r>
            <a:endParaRPr sz="1300" dirty="0">
              <a:solidFill>
                <a:srgbClr val="A0B4CD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1325880"/>
            <a:ext cx="10634472" cy="4251960"/>
          </a:xfrm>
          <a:prstGeom prst="roundRect">
            <a:avLst/>
          </a:prstGeom>
          <a:solidFill>
            <a:srgbClr val="051123"/>
          </a:solidFill>
          <a:ln>
            <a:solidFill>
              <a:srgbClr val="284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8324" y="1916703"/>
            <a:ext cx="8720657" cy="29700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700" dirty="0">
                <a:solidFill>
                  <a:srgbClr val="DAE7F6"/>
                </a:solidFill>
                <a:latin typeface="Consolas"/>
              </a:rPr>
              <a:t>Problema </a:t>
            </a:r>
            <a:r>
              <a:rPr lang="pt-BR" sz="1700" dirty="0" smtClean="0">
                <a:solidFill>
                  <a:srgbClr val="DAE7F6"/>
                </a:solidFill>
                <a:latin typeface="Consolas"/>
              </a:rPr>
              <a:t>matemático</a:t>
            </a:r>
          </a:p>
          <a:p>
            <a:endParaRPr lang="pt-BR" sz="1700" dirty="0">
              <a:solidFill>
                <a:srgbClr val="DAE7F6"/>
              </a:solidFill>
              <a:latin typeface="Consolas"/>
            </a:endParaRPr>
          </a:p>
          <a:p>
            <a:r>
              <a:rPr lang="pt-BR" sz="1700" dirty="0" smtClean="0">
                <a:solidFill>
                  <a:srgbClr val="DAE7F6"/>
                </a:solidFill>
                <a:latin typeface="Consolas"/>
              </a:rPr>
              <a:t>A </a:t>
            </a:r>
            <a:r>
              <a:rPr lang="pt-BR" sz="1700" dirty="0">
                <a:solidFill>
                  <a:srgbClr val="DAE7F6"/>
                </a:solidFill>
                <a:latin typeface="Consolas"/>
              </a:rPr>
              <a:t>Torre de Hanói é um quebra-cabeça formado por três pinos e discos </a:t>
            </a:r>
            <a:endParaRPr lang="pt-BR" sz="1700" dirty="0" smtClean="0">
              <a:solidFill>
                <a:srgbClr val="DAE7F6"/>
              </a:solidFill>
              <a:latin typeface="Consolas"/>
            </a:endParaRPr>
          </a:p>
          <a:p>
            <a:r>
              <a:rPr lang="pt-BR" sz="1700" dirty="0" smtClean="0">
                <a:solidFill>
                  <a:srgbClr val="DAE7F6"/>
                </a:solidFill>
                <a:latin typeface="Consolas"/>
              </a:rPr>
              <a:t>de </a:t>
            </a:r>
            <a:r>
              <a:rPr lang="pt-BR" sz="1700" dirty="0">
                <a:solidFill>
                  <a:srgbClr val="DAE7F6"/>
                </a:solidFill>
                <a:latin typeface="Consolas"/>
              </a:rPr>
              <a:t>tamanhos diferentes, inicialmente organizados do maior para o menor</a:t>
            </a:r>
            <a:r>
              <a:rPr lang="pt-BR" sz="1700" dirty="0" smtClean="0">
                <a:solidFill>
                  <a:srgbClr val="DAE7F6"/>
                </a:solidFill>
                <a:latin typeface="Consolas"/>
              </a:rPr>
              <a:t>.</a:t>
            </a:r>
          </a:p>
          <a:p>
            <a:endParaRPr lang="pt-BR" sz="1700" dirty="0">
              <a:solidFill>
                <a:srgbClr val="DAE7F6"/>
              </a:solidFill>
              <a:latin typeface="Consolas"/>
            </a:endParaRPr>
          </a:p>
          <a:p>
            <a:r>
              <a:rPr lang="pt-BR" sz="1700" dirty="0" smtClean="0">
                <a:solidFill>
                  <a:srgbClr val="DAE7F6"/>
                </a:solidFill>
                <a:latin typeface="Consolas"/>
              </a:rPr>
              <a:t>Três pinos:</a:t>
            </a:r>
          </a:p>
          <a:p>
            <a:endParaRPr lang="pt-BR" sz="1700" dirty="0" smtClean="0">
              <a:solidFill>
                <a:srgbClr val="DAE7F6"/>
              </a:solidFill>
              <a:latin typeface="Consolas"/>
            </a:endParaRPr>
          </a:p>
          <a:p>
            <a:r>
              <a:rPr lang="pt-BR" sz="1700" dirty="0" smtClean="0">
                <a:solidFill>
                  <a:srgbClr val="DAE7F6"/>
                </a:solidFill>
                <a:latin typeface="Consolas"/>
              </a:rPr>
              <a:t>Origem</a:t>
            </a:r>
            <a:r>
              <a:rPr lang="pt-BR" sz="1700" dirty="0">
                <a:solidFill>
                  <a:srgbClr val="DAE7F6"/>
                </a:solidFill>
                <a:latin typeface="Consolas"/>
              </a:rPr>
              <a:t>: onde os discos </a:t>
            </a:r>
            <a:r>
              <a:rPr lang="pt-BR" sz="1700" dirty="0" smtClean="0">
                <a:solidFill>
                  <a:srgbClr val="DAE7F6"/>
                </a:solidFill>
                <a:latin typeface="Consolas"/>
              </a:rPr>
              <a:t>começam</a:t>
            </a:r>
          </a:p>
          <a:p>
            <a:r>
              <a:rPr lang="pt-BR" sz="1700" dirty="0" smtClean="0">
                <a:solidFill>
                  <a:srgbClr val="DAE7F6"/>
                </a:solidFill>
                <a:latin typeface="Consolas"/>
              </a:rPr>
              <a:t>Auxiliar</a:t>
            </a:r>
            <a:r>
              <a:rPr lang="pt-BR" sz="1700" dirty="0">
                <a:solidFill>
                  <a:srgbClr val="DAE7F6"/>
                </a:solidFill>
                <a:latin typeface="Consolas"/>
              </a:rPr>
              <a:t>: utilizado durante os </a:t>
            </a:r>
            <a:r>
              <a:rPr lang="pt-BR" sz="1700" dirty="0" smtClean="0">
                <a:solidFill>
                  <a:srgbClr val="DAE7F6"/>
                </a:solidFill>
                <a:latin typeface="Consolas"/>
              </a:rPr>
              <a:t>movimentos</a:t>
            </a:r>
          </a:p>
          <a:p>
            <a:r>
              <a:rPr lang="pt-BR" sz="1700" dirty="0" smtClean="0">
                <a:solidFill>
                  <a:srgbClr val="DAE7F6"/>
                </a:solidFill>
                <a:latin typeface="Consolas"/>
              </a:rPr>
              <a:t>Destino</a:t>
            </a:r>
            <a:r>
              <a:rPr lang="pt-BR" sz="1700" dirty="0">
                <a:solidFill>
                  <a:srgbClr val="DAE7F6"/>
                </a:solidFill>
                <a:latin typeface="Consolas"/>
              </a:rPr>
              <a:t>: onde os discos devem </a:t>
            </a:r>
            <a:r>
              <a:rPr lang="pt-BR" sz="1700" dirty="0" smtClean="0">
                <a:solidFill>
                  <a:srgbClr val="DAE7F6"/>
                </a:solidFill>
                <a:latin typeface="Consolas"/>
              </a:rPr>
              <a:t>chegar</a:t>
            </a:r>
          </a:p>
          <a:p>
            <a:endParaRPr lang="pt-BR" sz="1700" dirty="0">
              <a:solidFill>
                <a:srgbClr val="DAE7F6"/>
              </a:solidFill>
              <a:latin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78420" y="5864313"/>
            <a:ext cx="373852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500" b="1" dirty="0">
                <a:solidFill>
                  <a:srgbClr val="CDE1FF"/>
                </a:solidFill>
                <a:latin typeface="Aptos"/>
              </a:rPr>
              <a:t>Número mínimo de movimentos: 2ⁿ − 1</a:t>
            </a:r>
            <a:endParaRPr sz="1500" b="1" dirty="0">
              <a:solidFill>
                <a:srgbClr val="CDE1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889331" y="6473952"/>
            <a:ext cx="172354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A0B4CD"/>
                </a:solidFill>
                <a:latin typeface="Aptos"/>
              </a:rPr>
              <a:t>FATEC • Torre de </a:t>
            </a:r>
            <a:r>
              <a:rPr sz="900" dirty="0" err="1">
                <a:solidFill>
                  <a:srgbClr val="A0B4CD"/>
                </a:solidFill>
                <a:latin typeface="Aptos"/>
              </a:rPr>
              <a:t>Hanói</a:t>
            </a:r>
            <a:r>
              <a:rPr sz="900" dirty="0">
                <a:solidFill>
                  <a:srgbClr val="A0B4CD"/>
                </a:solidFill>
                <a:latin typeface="Aptos"/>
              </a:rPr>
              <a:t>   |   </a:t>
            </a:r>
            <a:r>
              <a:rPr lang="pt-BR" sz="900" dirty="0" smtClean="0">
                <a:solidFill>
                  <a:srgbClr val="A0B4CD"/>
                </a:solidFill>
                <a:latin typeface="Aptos"/>
              </a:rPr>
              <a:t>2</a:t>
            </a:r>
            <a:endParaRPr sz="900" dirty="0">
              <a:solidFill>
                <a:srgbClr val="A0B4CD"/>
              </a:solidFill>
              <a:latin typeface="Aptos"/>
            </a:endParaRPr>
          </a:p>
        </p:txBody>
      </p:sp>
      <p:pic>
        <p:nvPicPr>
          <p:cNvPr id="1028" name="Picture 4" descr="Torre de Hanói – Wikipédia, a enciclopédia liv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731" y="3207636"/>
            <a:ext cx="4085179" cy="1798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33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38411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 dirty="0">
                <a:solidFill>
                  <a:srgbClr val="F8FAFC"/>
                </a:solidFill>
                <a:latin typeface="Aptos Display"/>
              </a:rPr>
              <a:t>2</a:t>
            </a:r>
            <a:r>
              <a:rPr sz="2800" b="1" dirty="0" smtClean="0">
                <a:solidFill>
                  <a:srgbClr val="F8FAFC"/>
                </a:solidFill>
                <a:latin typeface="Aptos Display"/>
              </a:rPr>
              <a:t>. </a:t>
            </a:r>
            <a:r>
              <a:rPr lang="pt-BR" sz="2800" b="1" dirty="0" smtClean="0">
                <a:solidFill>
                  <a:srgbClr val="F8FAFC"/>
                </a:solidFill>
                <a:latin typeface="Aptos Display"/>
              </a:rPr>
              <a:t>Objetivos e Regras</a:t>
            </a:r>
            <a:endParaRPr sz="2800" b="1" dirty="0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0B4CD"/>
                </a:solidFill>
                <a:latin typeface="Aptos"/>
              </a:rPr>
              <a:t>Problema clássico de lógica e recursividade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166360" cy="4297680"/>
          </a:xfrm>
          <a:prstGeom prst="roundRect">
            <a:avLst/>
          </a:prstGeom>
          <a:solidFill>
            <a:srgbClr val="102A4E"/>
          </a:solidFill>
          <a:ln w="12700">
            <a:solidFill>
              <a:srgbClr val="27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4297680"/>
          </a:xfrm>
          <a:prstGeom prst="rect">
            <a:avLst/>
          </a:prstGeom>
          <a:solidFill>
            <a:srgbClr val="2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4782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478231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dirty="0">
                <a:solidFill>
                  <a:srgbClr val="E2EAF4"/>
                </a:solidFill>
                <a:latin typeface="Aptos"/>
              </a:rPr>
              <a:t>Mover </a:t>
            </a:r>
            <a:r>
              <a:rPr sz="1900" dirty="0" err="1">
                <a:solidFill>
                  <a:srgbClr val="E2EAF4"/>
                </a:solidFill>
                <a:latin typeface="Aptos"/>
              </a:rPr>
              <a:t>todos</a:t>
            </a:r>
            <a:r>
              <a:rPr sz="1900" dirty="0">
                <a:solidFill>
                  <a:srgbClr val="E2EAF4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E2EAF4"/>
                </a:solidFill>
                <a:latin typeface="Aptos"/>
              </a:rPr>
              <a:t>os</a:t>
            </a:r>
            <a:r>
              <a:rPr sz="1900" dirty="0">
                <a:solidFill>
                  <a:srgbClr val="E2EAF4"/>
                </a:solidFill>
                <a:latin typeface="Aptos"/>
              </a:rPr>
              <a:t> discos do </a:t>
            </a:r>
            <a:r>
              <a:rPr sz="1900" dirty="0" err="1">
                <a:solidFill>
                  <a:srgbClr val="E2EAF4"/>
                </a:solidFill>
                <a:latin typeface="Aptos"/>
              </a:rPr>
              <a:t>pino</a:t>
            </a:r>
            <a:r>
              <a:rPr sz="1900" dirty="0">
                <a:solidFill>
                  <a:srgbClr val="E2EAF4"/>
                </a:solidFill>
                <a:latin typeface="Aptos"/>
              </a:rPr>
              <a:t> de </a:t>
            </a:r>
            <a:r>
              <a:rPr sz="1900" dirty="0" err="1">
                <a:solidFill>
                  <a:srgbClr val="E2EAF4"/>
                </a:solidFill>
                <a:latin typeface="Aptos"/>
              </a:rPr>
              <a:t>origem</a:t>
            </a:r>
            <a:r>
              <a:rPr sz="1900" dirty="0">
                <a:solidFill>
                  <a:srgbClr val="E2EAF4"/>
                </a:solidFill>
                <a:latin typeface="Aptos"/>
              </a:rPr>
              <a:t> para o </a:t>
            </a:r>
            <a:r>
              <a:rPr sz="1900" dirty="0" err="1">
                <a:solidFill>
                  <a:srgbClr val="E2EAF4"/>
                </a:solidFill>
                <a:latin typeface="Aptos"/>
              </a:rPr>
              <a:t>pino</a:t>
            </a:r>
            <a:r>
              <a:rPr sz="1900" dirty="0">
                <a:solidFill>
                  <a:srgbClr val="E2EAF4"/>
                </a:solidFill>
                <a:latin typeface="Aptos"/>
              </a:rPr>
              <a:t> de </a:t>
            </a:r>
            <a:r>
              <a:rPr sz="1900" dirty="0" err="1">
                <a:solidFill>
                  <a:srgbClr val="E2EAF4"/>
                </a:solidFill>
                <a:latin typeface="Aptos"/>
              </a:rPr>
              <a:t>destino</a:t>
            </a:r>
            <a:r>
              <a:rPr sz="1900" dirty="0">
                <a:solidFill>
                  <a:srgbClr val="E2EAF4"/>
                </a:solidFill>
                <a:latin typeface="Aptos"/>
              </a:rPr>
              <a:t>, </a:t>
            </a:r>
            <a:r>
              <a:rPr sz="1900" dirty="0" err="1">
                <a:solidFill>
                  <a:srgbClr val="E2EAF4"/>
                </a:solidFill>
                <a:latin typeface="Aptos"/>
              </a:rPr>
              <a:t>usando</a:t>
            </a:r>
            <a:r>
              <a:rPr sz="1900" dirty="0">
                <a:solidFill>
                  <a:srgbClr val="E2EAF4"/>
                </a:solidFill>
                <a:latin typeface="Aptos"/>
              </a:rPr>
              <a:t> um </a:t>
            </a:r>
            <a:r>
              <a:rPr sz="1900" dirty="0" err="1">
                <a:solidFill>
                  <a:srgbClr val="E2EAF4"/>
                </a:solidFill>
                <a:latin typeface="Aptos"/>
              </a:rPr>
              <a:t>terceiro</a:t>
            </a:r>
            <a:r>
              <a:rPr sz="1900" dirty="0">
                <a:solidFill>
                  <a:srgbClr val="E2EAF4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E2EAF4"/>
                </a:solidFill>
                <a:latin typeface="Aptos"/>
              </a:rPr>
              <a:t>pino</a:t>
            </a:r>
            <a:r>
              <a:rPr sz="1900" dirty="0">
                <a:solidFill>
                  <a:srgbClr val="E2EAF4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E2EAF4"/>
                </a:solidFill>
                <a:latin typeface="Aptos"/>
              </a:rPr>
              <a:t>como</a:t>
            </a:r>
            <a:r>
              <a:rPr sz="1900" dirty="0">
                <a:solidFill>
                  <a:srgbClr val="E2EAF4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E2EAF4"/>
                </a:solidFill>
                <a:latin typeface="Aptos"/>
              </a:rPr>
              <a:t>auxiliar</a:t>
            </a:r>
            <a:r>
              <a:rPr sz="1900" dirty="0">
                <a:solidFill>
                  <a:srgbClr val="E2EAF4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417320"/>
            <a:ext cx="1828800" cy="4297680"/>
          </a:xfrm>
          <a:prstGeom prst="roundRect">
            <a:avLst/>
          </a:prstGeom>
          <a:solidFill>
            <a:srgbClr val="102A4E"/>
          </a:solidFill>
          <a:ln w="12700">
            <a:solidFill>
              <a:srgbClr val="27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80760" y="1417320"/>
            <a:ext cx="64008" cy="4297680"/>
          </a:xfrm>
          <a:prstGeom prst="rect">
            <a:avLst/>
          </a:prstGeom>
          <a:solidFill>
            <a:srgbClr val="FF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8" y="1581912"/>
            <a:ext cx="1444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Regra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2039112"/>
            <a:ext cx="14447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2EAF4"/>
                </a:solidFill>
                <a:latin typeface="Aptos"/>
              </a:rPr>
              <a:t>Apenas um disco pode ser movido por vez.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1828800" cy="4297680"/>
          </a:xfrm>
          <a:prstGeom prst="roundRect">
            <a:avLst/>
          </a:prstGeom>
          <a:solidFill>
            <a:srgbClr val="102A4E"/>
          </a:solidFill>
          <a:ln w="12700">
            <a:solidFill>
              <a:srgbClr val="27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64008" cy="4297680"/>
          </a:xfrm>
          <a:prstGeom prst="rect">
            <a:avLst/>
          </a:prstGeom>
          <a:solidFill>
            <a:srgbClr val="2D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581912"/>
            <a:ext cx="1444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Regra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039112"/>
            <a:ext cx="14447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2EAF4"/>
                </a:solidFill>
                <a:latin typeface="Aptos"/>
              </a:rPr>
              <a:t>Move-se somente o disco que está no topo.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04120" y="1417320"/>
            <a:ext cx="1463040" cy="4297680"/>
          </a:xfrm>
          <a:prstGeom prst="roundRect">
            <a:avLst/>
          </a:prstGeom>
          <a:solidFill>
            <a:srgbClr val="102A4E"/>
          </a:solidFill>
          <a:ln w="12700">
            <a:solidFill>
              <a:srgbClr val="27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104120" y="1417320"/>
            <a:ext cx="64008" cy="4297680"/>
          </a:xfrm>
          <a:prstGeom prst="rect">
            <a:avLst/>
          </a:prstGeom>
          <a:solidFill>
            <a:srgbClr val="2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05288" y="1581912"/>
            <a:ext cx="10789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Regra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05288" y="2039112"/>
            <a:ext cx="107899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2EAF4"/>
                </a:solidFill>
                <a:latin typeface="Aptos"/>
              </a:rPr>
              <a:t>Nunca colocar um disco maior sobre um menor.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89331" y="6473952"/>
            <a:ext cx="172354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A0B4CD"/>
                </a:solidFill>
                <a:latin typeface="Aptos"/>
              </a:rPr>
              <a:t>FATEC • Torre de </a:t>
            </a:r>
            <a:r>
              <a:rPr sz="900" dirty="0" err="1">
                <a:solidFill>
                  <a:srgbClr val="A0B4CD"/>
                </a:solidFill>
                <a:latin typeface="Aptos"/>
              </a:rPr>
              <a:t>Hanói</a:t>
            </a:r>
            <a:r>
              <a:rPr sz="900" dirty="0">
                <a:solidFill>
                  <a:srgbClr val="A0B4CD"/>
                </a:solidFill>
                <a:latin typeface="Aptos"/>
              </a:rPr>
              <a:t>   |   </a:t>
            </a:r>
            <a:r>
              <a:rPr lang="pt-BR" sz="900" dirty="0" smtClean="0">
                <a:solidFill>
                  <a:srgbClr val="A0B4CD"/>
                </a:solidFill>
                <a:latin typeface="Aptos"/>
              </a:rPr>
              <a:t>3</a:t>
            </a:r>
            <a:endParaRPr sz="900" dirty="0">
              <a:solidFill>
                <a:srgbClr val="A0B4CD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39848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 dirty="0">
                <a:solidFill>
                  <a:srgbClr val="F8FAFC"/>
                </a:solidFill>
                <a:latin typeface="Aptos Display"/>
              </a:rPr>
              <a:t>3</a:t>
            </a:r>
            <a:r>
              <a:rPr sz="2800" b="1" dirty="0" smtClean="0">
                <a:solidFill>
                  <a:srgbClr val="F8FAFC"/>
                </a:solidFill>
                <a:latin typeface="Aptos Display"/>
              </a:rPr>
              <a:t>. </a:t>
            </a:r>
            <a:r>
              <a:rPr sz="2800" b="1" dirty="0" err="1">
                <a:solidFill>
                  <a:srgbClr val="F8FAFC"/>
                </a:solidFill>
                <a:latin typeface="Aptos Display"/>
              </a:rPr>
              <a:t>Algoritmo</a:t>
            </a:r>
            <a:r>
              <a:rPr sz="2800" b="1" dirty="0">
                <a:solidFill>
                  <a:srgbClr val="F8FAFC"/>
                </a:solidFill>
                <a:latin typeface="Aptos Display"/>
              </a:rPr>
              <a:t> </a:t>
            </a:r>
            <a:r>
              <a:rPr sz="2800" b="1" dirty="0" err="1">
                <a:solidFill>
                  <a:srgbClr val="F8FAFC"/>
                </a:solidFill>
                <a:latin typeface="Aptos Display"/>
              </a:rPr>
              <a:t>recursivo</a:t>
            </a:r>
            <a:endParaRPr sz="2800" b="1" dirty="0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0B4CD"/>
                </a:solidFill>
                <a:latin typeface="Aptos"/>
              </a:rPr>
              <a:t>A solução reduz o problema para uma Torre de Hanói menor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1143000"/>
          </a:xfrm>
          <a:prstGeom prst="roundRect">
            <a:avLst/>
          </a:prstGeom>
          <a:solidFill>
            <a:srgbClr val="102A4E"/>
          </a:solidFill>
          <a:ln w="12700">
            <a:solidFill>
              <a:srgbClr val="27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143000"/>
          </a:xfrm>
          <a:prstGeom prst="rect">
            <a:avLst/>
          </a:prstGeom>
          <a:solidFill>
            <a:srgbClr val="2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3044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1. Caso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47672"/>
            <a:ext cx="30449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2EAF4"/>
                </a:solidFill>
                <a:latin typeface="Aptos"/>
              </a:rPr>
              <a:t>Se n = 1, move o disco diretamente.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3429000" cy="1325880"/>
          </a:xfrm>
          <a:prstGeom prst="roundRect">
            <a:avLst/>
          </a:prstGeom>
          <a:solidFill>
            <a:srgbClr val="102A4E"/>
          </a:solidFill>
          <a:ln w="12700">
            <a:solidFill>
              <a:srgbClr val="27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64008" cy="1325880"/>
          </a:xfrm>
          <a:prstGeom prst="rect">
            <a:avLst/>
          </a:prstGeom>
          <a:solidFill>
            <a:srgbClr val="2D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862072"/>
            <a:ext cx="3044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2. Recursão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319272"/>
            <a:ext cx="30449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2EAF4"/>
                </a:solidFill>
                <a:latin typeface="Aptos"/>
              </a:rPr>
              <a:t>Resolve n−1 discos usando o pino auxiliar.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51960"/>
            <a:ext cx="3429000" cy="1325880"/>
          </a:xfrm>
          <a:prstGeom prst="roundRect">
            <a:avLst/>
          </a:prstGeom>
          <a:solidFill>
            <a:srgbClr val="102A4E"/>
          </a:solidFill>
          <a:ln w="12700">
            <a:solidFill>
              <a:srgbClr val="27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251960"/>
            <a:ext cx="64008" cy="1325880"/>
          </a:xfrm>
          <a:prstGeom prst="rect">
            <a:avLst/>
          </a:prstGeom>
          <a:solidFill>
            <a:srgbClr val="FF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4416552"/>
            <a:ext cx="3044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3. Movimento final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873752"/>
            <a:ext cx="30449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2EAF4"/>
                </a:solidFill>
                <a:latin typeface="Aptos"/>
              </a:rPr>
              <a:t>Move o maior disco e resolve novamente n−1.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325880"/>
            <a:ext cx="7086600" cy="4251960"/>
          </a:xfrm>
          <a:prstGeom prst="roundRect">
            <a:avLst/>
          </a:prstGeom>
          <a:solidFill>
            <a:srgbClr val="051123"/>
          </a:solidFill>
          <a:ln>
            <a:solidFill>
              <a:srgbClr val="284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36007" y="1490472"/>
            <a:ext cx="6532558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solidFill>
                  <a:srgbClr val="DAE7F6"/>
                </a:solidFill>
                <a:latin typeface="Consolas"/>
              </a:rPr>
              <a:t>hanoi</a:t>
            </a:r>
            <a:r>
              <a:rPr sz="2000" dirty="0">
                <a:solidFill>
                  <a:srgbClr val="DAE7F6"/>
                </a:solidFill>
                <a:latin typeface="Consolas"/>
              </a:rPr>
              <a:t>(n, </a:t>
            </a:r>
            <a:r>
              <a:rPr sz="2000" dirty="0" err="1">
                <a:solidFill>
                  <a:srgbClr val="DAE7F6"/>
                </a:solidFill>
                <a:latin typeface="Consolas"/>
              </a:rPr>
              <a:t>origem</a:t>
            </a:r>
            <a:r>
              <a:rPr sz="2000" dirty="0">
                <a:solidFill>
                  <a:srgbClr val="DAE7F6"/>
                </a:solidFill>
                <a:latin typeface="Consolas"/>
              </a:rPr>
              <a:t>, </a:t>
            </a:r>
            <a:r>
              <a:rPr sz="2000" dirty="0" err="1">
                <a:solidFill>
                  <a:srgbClr val="DAE7F6"/>
                </a:solidFill>
                <a:latin typeface="Consolas"/>
              </a:rPr>
              <a:t>destino</a:t>
            </a:r>
            <a:r>
              <a:rPr sz="2000" dirty="0">
                <a:solidFill>
                  <a:srgbClr val="DAE7F6"/>
                </a:solidFill>
                <a:latin typeface="Consolas"/>
              </a:rPr>
              <a:t>, </a:t>
            </a:r>
            <a:r>
              <a:rPr sz="2000" dirty="0" err="1">
                <a:solidFill>
                  <a:srgbClr val="DAE7F6"/>
                </a:solidFill>
                <a:latin typeface="Consolas"/>
              </a:rPr>
              <a:t>auxiliar</a:t>
            </a:r>
            <a:r>
              <a:rPr sz="2000" dirty="0">
                <a:solidFill>
                  <a:srgbClr val="DAE7F6"/>
                </a:solidFill>
                <a:latin typeface="Consolas"/>
              </a:rPr>
              <a:t>):
    se n == 1:
        mover(</a:t>
            </a:r>
            <a:r>
              <a:rPr sz="2000" dirty="0" err="1">
                <a:solidFill>
                  <a:srgbClr val="DAE7F6"/>
                </a:solidFill>
                <a:latin typeface="Consolas"/>
              </a:rPr>
              <a:t>origem</a:t>
            </a:r>
            <a:r>
              <a:rPr sz="2000" dirty="0">
                <a:solidFill>
                  <a:srgbClr val="DAE7F6"/>
                </a:solidFill>
                <a:latin typeface="Consolas"/>
              </a:rPr>
              <a:t>, </a:t>
            </a:r>
            <a:r>
              <a:rPr sz="2000" dirty="0" err="1">
                <a:solidFill>
                  <a:srgbClr val="DAE7F6"/>
                </a:solidFill>
                <a:latin typeface="Consolas"/>
              </a:rPr>
              <a:t>destino</a:t>
            </a:r>
            <a:r>
              <a:rPr sz="2000" dirty="0">
                <a:solidFill>
                  <a:srgbClr val="DAE7F6"/>
                </a:solidFill>
                <a:latin typeface="Consolas"/>
              </a:rPr>
              <a:t>)
    </a:t>
            </a:r>
            <a:r>
              <a:rPr sz="2000" dirty="0" err="1">
                <a:solidFill>
                  <a:srgbClr val="DAE7F6"/>
                </a:solidFill>
                <a:latin typeface="Consolas"/>
              </a:rPr>
              <a:t>senão</a:t>
            </a:r>
            <a:r>
              <a:rPr sz="2000" dirty="0">
                <a:solidFill>
                  <a:srgbClr val="DAE7F6"/>
                </a:solidFill>
                <a:latin typeface="Consolas"/>
              </a:rPr>
              <a:t>:
        </a:t>
            </a:r>
            <a:r>
              <a:rPr sz="2000" dirty="0" err="1">
                <a:solidFill>
                  <a:srgbClr val="DAE7F6"/>
                </a:solidFill>
                <a:latin typeface="Consolas"/>
              </a:rPr>
              <a:t>hanoi</a:t>
            </a:r>
            <a:r>
              <a:rPr sz="2000" dirty="0">
                <a:solidFill>
                  <a:srgbClr val="DAE7F6"/>
                </a:solidFill>
                <a:latin typeface="Consolas"/>
              </a:rPr>
              <a:t>(n-1, </a:t>
            </a:r>
            <a:r>
              <a:rPr sz="2000" dirty="0" err="1">
                <a:solidFill>
                  <a:srgbClr val="DAE7F6"/>
                </a:solidFill>
                <a:latin typeface="Consolas"/>
              </a:rPr>
              <a:t>origem</a:t>
            </a:r>
            <a:r>
              <a:rPr sz="2000" dirty="0">
                <a:solidFill>
                  <a:srgbClr val="DAE7F6"/>
                </a:solidFill>
                <a:latin typeface="Consolas"/>
              </a:rPr>
              <a:t>, </a:t>
            </a:r>
            <a:r>
              <a:rPr sz="2000" dirty="0" err="1">
                <a:solidFill>
                  <a:srgbClr val="DAE7F6"/>
                </a:solidFill>
                <a:latin typeface="Consolas"/>
              </a:rPr>
              <a:t>auxiliar</a:t>
            </a:r>
            <a:r>
              <a:rPr sz="2000" dirty="0">
                <a:solidFill>
                  <a:srgbClr val="DAE7F6"/>
                </a:solidFill>
                <a:latin typeface="Consolas"/>
              </a:rPr>
              <a:t>, </a:t>
            </a:r>
            <a:r>
              <a:rPr sz="2000" dirty="0" err="1">
                <a:solidFill>
                  <a:srgbClr val="DAE7F6"/>
                </a:solidFill>
                <a:latin typeface="Consolas"/>
              </a:rPr>
              <a:t>destino</a:t>
            </a:r>
            <a:r>
              <a:rPr sz="2000" dirty="0">
                <a:solidFill>
                  <a:srgbClr val="DAE7F6"/>
                </a:solidFill>
                <a:latin typeface="Consolas"/>
              </a:rPr>
              <a:t>)
        mover(</a:t>
            </a:r>
            <a:r>
              <a:rPr sz="2000" dirty="0" err="1">
                <a:solidFill>
                  <a:srgbClr val="DAE7F6"/>
                </a:solidFill>
                <a:latin typeface="Consolas"/>
              </a:rPr>
              <a:t>origem</a:t>
            </a:r>
            <a:r>
              <a:rPr sz="2000" dirty="0">
                <a:solidFill>
                  <a:srgbClr val="DAE7F6"/>
                </a:solidFill>
                <a:latin typeface="Consolas"/>
              </a:rPr>
              <a:t>, </a:t>
            </a:r>
            <a:r>
              <a:rPr sz="2000" dirty="0" err="1">
                <a:solidFill>
                  <a:srgbClr val="DAE7F6"/>
                </a:solidFill>
                <a:latin typeface="Consolas"/>
              </a:rPr>
              <a:t>destino</a:t>
            </a:r>
            <a:r>
              <a:rPr sz="2000" dirty="0">
                <a:solidFill>
                  <a:srgbClr val="DAE7F6"/>
                </a:solidFill>
                <a:latin typeface="Consolas"/>
              </a:rPr>
              <a:t>)
        </a:t>
            </a:r>
            <a:r>
              <a:rPr sz="2000" dirty="0" err="1">
                <a:solidFill>
                  <a:srgbClr val="DAE7F6"/>
                </a:solidFill>
                <a:latin typeface="Consolas"/>
              </a:rPr>
              <a:t>hanoi</a:t>
            </a:r>
            <a:r>
              <a:rPr sz="2000" dirty="0">
                <a:solidFill>
                  <a:srgbClr val="DAE7F6"/>
                </a:solidFill>
                <a:latin typeface="Consolas"/>
              </a:rPr>
              <a:t>(n-1, </a:t>
            </a:r>
            <a:r>
              <a:rPr sz="2000" dirty="0" err="1">
                <a:solidFill>
                  <a:srgbClr val="DAE7F6"/>
                </a:solidFill>
                <a:latin typeface="Consolas"/>
              </a:rPr>
              <a:t>auxiliar</a:t>
            </a:r>
            <a:r>
              <a:rPr sz="2000" dirty="0">
                <a:solidFill>
                  <a:srgbClr val="DAE7F6"/>
                </a:solidFill>
                <a:latin typeface="Consolas"/>
              </a:rPr>
              <a:t>, </a:t>
            </a:r>
            <a:r>
              <a:rPr sz="2000" dirty="0" err="1">
                <a:solidFill>
                  <a:srgbClr val="DAE7F6"/>
                </a:solidFill>
                <a:latin typeface="Consolas"/>
              </a:rPr>
              <a:t>destino</a:t>
            </a:r>
            <a:r>
              <a:rPr sz="2000" dirty="0">
                <a:solidFill>
                  <a:srgbClr val="DAE7F6"/>
                </a:solidFill>
                <a:latin typeface="Consolas"/>
              </a:rPr>
              <a:t>, </a:t>
            </a:r>
            <a:r>
              <a:rPr sz="2000" dirty="0" err="1">
                <a:solidFill>
                  <a:srgbClr val="DAE7F6"/>
                </a:solidFill>
                <a:latin typeface="Consolas"/>
              </a:rPr>
              <a:t>origem</a:t>
            </a:r>
            <a:r>
              <a:rPr sz="2000" dirty="0">
                <a:solidFill>
                  <a:srgbClr val="DAE7F6"/>
                </a:solidFill>
                <a:latin typeface="Consolas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5715000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DE1FF"/>
                </a:solidFill>
                <a:latin typeface="Aptos"/>
              </a:rPr>
              <a:t>Complexidade em movimentos: 2ⁿ − 1  •  Para 3 discos: 7 movimentos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89331" y="6473952"/>
            <a:ext cx="172354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A0B4CD"/>
                </a:solidFill>
                <a:latin typeface="Aptos"/>
              </a:rPr>
              <a:t>FATEC • Torre de </a:t>
            </a:r>
            <a:r>
              <a:rPr sz="900" dirty="0" err="1">
                <a:solidFill>
                  <a:srgbClr val="A0B4CD"/>
                </a:solidFill>
                <a:latin typeface="Aptos"/>
              </a:rPr>
              <a:t>Hanói</a:t>
            </a:r>
            <a:r>
              <a:rPr sz="900" dirty="0">
                <a:solidFill>
                  <a:srgbClr val="A0B4CD"/>
                </a:solidFill>
                <a:latin typeface="Aptos"/>
              </a:rPr>
              <a:t>   |   </a:t>
            </a:r>
            <a:r>
              <a:rPr lang="pt-BR" sz="900" dirty="0" smtClean="0">
                <a:solidFill>
                  <a:srgbClr val="A0B4CD"/>
                </a:solidFill>
                <a:latin typeface="Aptos"/>
              </a:rPr>
              <a:t>4</a:t>
            </a:r>
            <a:endParaRPr sz="900" dirty="0">
              <a:solidFill>
                <a:srgbClr val="A0B4CD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260205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 dirty="0">
                <a:solidFill>
                  <a:srgbClr val="F8FAFC"/>
                </a:solidFill>
                <a:latin typeface="Aptos Display"/>
              </a:rPr>
              <a:t>4</a:t>
            </a:r>
            <a:r>
              <a:rPr sz="2800" b="1" dirty="0" smtClean="0">
                <a:solidFill>
                  <a:srgbClr val="F8FAFC"/>
                </a:solidFill>
                <a:latin typeface="Aptos Display"/>
              </a:rPr>
              <a:t>. </a:t>
            </a:r>
            <a:r>
              <a:rPr lang="pt-BR" sz="2800" b="1" dirty="0" smtClean="0">
                <a:solidFill>
                  <a:srgbClr val="F8FAFC"/>
                </a:solidFill>
                <a:latin typeface="Aptos Display"/>
              </a:rPr>
              <a:t>A Aplicação</a:t>
            </a:r>
            <a:endParaRPr sz="2800" b="1" dirty="0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0B4CD"/>
                </a:solidFill>
                <a:latin typeface="Aptos"/>
              </a:rPr>
              <a:t>Interface web para visualizar a solução passo a passo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307592"/>
            <a:ext cx="6940296" cy="4315968"/>
          </a:xfrm>
          <a:prstGeom prst="rect">
            <a:avLst/>
          </a:prstGeom>
          <a:noFill/>
          <a:ln w="15240">
            <a:solidFill>
              <a:srgbClr val="2D5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818120" y="1325880"/>
            <a:ext cx="3703320" cy="1143000"/>
          </a:xfrm>
          <a:prstGeom prst="roundRect">
            <a:avLst/>
          </a:prstGeom>
          <a:solidFill>
            <a:srgbClr val="102A4E"/>
          </a:solidFill>
          <a:ln w="12700">
            <a:solidFill>
              <a:srgbClr val="27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818120" y="1325880"/>
            <a:ext cx="64008" cy="1143000"/>
          </a:xfrm>
          <a:prstGeom prst="rect">
            <a:avLst/>
          </a:prstGeom>
          <a:solidFill>
            <a:srgbClr val="2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19288" y="1490472"/>
            <a:ext cx="3319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Interação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1947672"/>
            <a:ext cx="331927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2EAF4"/>
                </a:solidFill>
                <a:latin typeface="Aptos"/>
              </a:rPr>
              <a:t>Escolha a quantidade de discos e acompanhe a resolução automática.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697480"/>
            <a:ext cx="3703320" cy="1143000"/>
          </a:xfrm>
          <a:prstGeom prst="roundRect">
            <a:avLst/>
          </a:prstGeom>
          <a:solidFill>
            <a:srgbClr val="102A4E"/>
          </a:solidFill>
          <a:ln w="12700">
            <a:solidFill>
              <a:srgbClr val="27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18120" y="2697480"/>
            <a:ext cx="64008" cy="1143000"/>
          </a:xfrm>
          <a:prstGeom prst="rect">
            <a:avLst/>
          </a:prstGeom>
          <a:solidFill>
            <a:srgbClr val="2D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19288" y="2862072"/>
            <a:ext cx="3319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Visualização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3319272"/>
            <a:ext cx="331927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2EAF4"/>
                </a:solidFill>
                <a:latin typeface="Aptos"/>
              </a:rPr>
              <a:t>Movimentos, contador e quantidade mínima são exibidos na interface.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069080"/>
            <a:ext cx="3703320" cy="1554480"/>
          </a:xfrm>
          <a:prstGeom prst="roundRect">
            <a:avLst/>
          </a:prstGeom>
          <a:solidFill>
            <a:srgbClr val="102A4E"/>
          </a:solidFill>
          <a:ln w="12700">
            <a:solidFill>
              <a:srgbClr val="27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18120" y="4069080"/>
            <a:ext cx="64008" cy="1554480"/>
          </a:xfrm>
          <a:prstGeom prst="rect">
            <a:avLst/>
          </a:prstGeom>
          <a:solidFill>
            <a:srgbClr val="FF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19288" y="4233672"/>
            <a:ext cx="3319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Acesso online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4690872"/>
            <a:ext cx="33192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2EAF4"/>
                </a:solidFill>
                <a:latin typeface="Aptos"/>
              </a:rPr>
              <a:t>GitHub Pages
vh-dev-fatec.github.io/torres-hanoi/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89331" y="6473952"/>
            <a:ext cx="172354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A0B4CD"/>
                </a:solidFill>
                <a:latin typeface="Aptos"/>
              </a:rPr>
              <a:t>FATEC • Torre de </a:t>
            </a:r>
            <a:r>
              <a:rPr sz="900" dirty="0" err="1">
                <a:solidFill>
                  <a:srgbClr val="A0B4CD"/>
                </a:solidFill>
                <a:latin typeface="Aptos"/>
              </a:rPr>
              <a:t>Hanói</a:t>
            </a:r>
            <a:r>
              <a:rPr sz="900" dirty="0">
                <a:solidFill>
                  <a:srgbClr val="A0B4CD"/>
                </a:solidFill>
                <a:latin typeface="Aptos"/>
              </a:rPr>
              <a:t>   |   </a:t>
            </a:r>
            <a:r>
              <a:rPr lang="pt-BR" sz="900" dirty="0" smtClean="0">
                <a:solidFill>
                  <a:srgbClr val="A0B4CD"/>
                </a:solidFill>
                <a:latin typeface="Aptos"/>
              </a:rPr>
              <a:t>5</a:t>
            </a:r>
            <a:endParaRPr sz="900" dirty="0">
              <a:solidFill>
                <a:srgbClr val="A0B4CD"/>
              </a:solidFill>
              <a:latin typeface="Aptos"/>
            </a:endParaRPr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326989"/>
            <a:ext cx="6937588" cy="49485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30011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b="1" dirty="0">
                <a:solidFill>
                  <a:srgbClr val="F8FAFC"/>
                </a:solidFill>
                <a:latin typeface="Aptos Display"/>
              </a:rPr>
              <a:t>5</a:t>
            </a:r>
            <a:r>
              <a:rPr sz="2800" b="1" dirty="0" smtClean="0">
                <a:solidFill>
                  <a:srgbClr val="F8FAFC"/>
                </a:solidFill>
                <a:latin typeface="Aptos Display"/>
              </a:rPr>
              <a:t>. </a:t>
            </a:r>
            <a:r>
              <a:rPr sz="2800" b="1" dirty="0" err="1">
                <a:solidFill>
                  <a:srgbClr val="F8FAFC"/>
                </a:solidFill>
                <a:latin typeface="Aptos Display"/>
              </a:rPr>
              <a:t>Encerramento</a:t>
            </a:r>
            <a:endParaRPr sz="2800" b="1" dirty="0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0B4CD"/>
                </a:solidFill>
                <a:latin typeface="Aptos"/>
              </a:rPr>
              <a:t>Projeto disponível para consulta e demonstração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751576" cy="1417320"/>
          </a:xfrm>
          <a:prstGeom prst="roundRect">
            <a:avLst/>
          </a:prstGeom>
          <a:solidFill>
            <a:srgbClr val="102A4E"/>
          </a:solidFill>
          <a:ln w="12700">
            <a:solidFill>
              <a:srgbClr val="27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417320"/>
          </a:xfrm>
          <a:prstGeom prst="rect">
            <a:avLst/>
          </a:prstGeom>
          <a:solidFill>
            <a:srgbClr val="2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4873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Repositório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4873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rgbClr val="E2EAF4"/>
                </a:solidFill>
                <a:latin typeface="Aptos"/>
                <a:hlinkClick r:id="rId2"/>
              </a:rPr>
              <a:t>github.com/</a:t>
            </a:r>
            <a:r>
              <a:rPr sz="1800" dirty="0" err="1">
                <a:solidFill>
                  <a:srgbClr val="E2EAF4"/>
                </a:solidFill>
                <a:latin typeface="Aptos"/>
                <a:hlinkClick r:id="rId2"/>
              </a:rPr>
              <a:t>vh-dev-fatec</a:t>
            </a:r>
            <a:r>
              <a:rPr sz="1800" dirty="0">
                <a:solidFill>
                  <a:srgbClr val="E2EAF4"/>
                </a:solidFill>
                <a:latin typeface="Aptos"/>
                <a:hlinkClick r:id="rId2"/>
              </a:rPr>
              <a:t>/</a:t>
            </a:r>
            <a:r>
              <a:rPr sz="1800" dirty="0" err="1">
                <a:solidFill>
                  <a:srgbClr val="E2EAF4"/>
                </a:solidFill>
                <a:latin typeface="Aptos"/>
                <a:hlinkClick r:id="rId2"/>
              </a:rPr>
              <a:t>torres-hanoi</a:t>
            </a:r>
            <a:endParaRPr sz="1800" dirty="0">
              <a:solidFill>
                <a:srgbClr val="E2EAF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3154680"/>
            <a:ext cx="5751576" cy="1417320"/>
          </a:xfrm>
          <a:prstGeom prst="roundRect">
            <a:avLst/>
          </a:prstGeom>
          <a:solidFill>
            <a:srgbClr val="102A4E"/>
          </a:solidFill>
          <a:ln w="12700">
            <a:solidFill>
              <a:srgbClr val="27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3154680"/>
            <a:ext cx="64008" cy="1417320"/>
          </a:xfrm>
          <a:prstGeom prst="rect">
            <a:avLst/>
          </a:prstGeom>
          <a:solidFill>
            <a:srgbClr val="2D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3319272"/>
            <a:ext cx="4873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Demonstração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776472"/>
            <a:ext cx="4873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rgbClr val="E2EAF4"/>
                </a:solidFill>
                <a:latin typeface="Aptos"/>
                <a:hlinkClick r:id="rId3" action="ppaction://hlinkfile"/>
              </a:rPr>
              <a:t>vh-dev-fatec.github.io/</a:t>
            </a:r>
            <a:r>
              <a:rPr sz="1800" dirty="0" err="1">
                <a:solidFill>
                  <a:srgbClr val="E2EAF4"/>
                </a:solidFill>
                <a:latin typeface="Aptos"/>
                <a:hlinkClick r:id="rId3" action="ppaction://hlinkfile"/>
              </a:rPr>
              <a:t>torres-hanoi</a:t>
            </a:r>
            <a:r>
              <a:rPr sz="1800" dirty="0">
                <a:solidFill>
                  <a:srgbClr val="E2EAF4"/>
                </a:solidFill>
                <a:latin typeface="Aptos"/>
              </a:rPr>
              <a:t>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92040"/>
            <a:ext cx="5751576" cy="914400"/>
          </a:xfrm>
          <a:prstGeom prst="roundRect">
            <a:avLst/>
          </a:prstGeom>
          <a:solidFill>
            <a:srgbClr val="102A4E"/>
          </a:solidFill>
          <a:ln w="12700">
            <a:solidFill>
              <a:srgbClr val="274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892040"/>
            <a:ext cx="64008" cy="914400"/>
          </a:xfrm>
          <a:prstGeom prst="rect">
            <a:avLst/>
          </a:prstGeom>
          <a:solidFill>
            <a:srgbClr val="FF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5056631"/>
            <a:ext cx="1361270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700" b="1" dirty="0" smtClean="0">
                <a:solidFill>
                  <a:srgbClr val="F8FAFC"/>
                </a:solidFill>
                <a:latin typeface="Aptos"/>
              </a:rPr>
              <a:t>Integrantes</a:t>
            </a:r>
            <a:endParaRPr sz="17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1247" y="5513831"/>
            <a:ext cx="48737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E2EAF4"/>
                </a:solidFill>
                <a:latin typeface="Aptos"/>
              </a:defRPr>
            </a:pPr>
            <a:r>
              <a:rPr lang="pt-BR" sz="1400" dirty="0"/>
              <a:t>Vinicius Augusto • Henrique Camargo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663440"/>
            <a:ext cx="1920240" cy="310896"/>
          </a:xfrm>
          <a:prstGeom prst="roundRect">
            <a:avLst/>
          </a:prstGeom>
          <a:solidFill>
            <a:srgbClr val="2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66760" y="4251960"/>
            <a:ext cx="1371600" cy="310896"/>
          </a:xfrm>
          <a:prstGeom prst="roundRect">
            <a:avLst/>
          </a:prstGeom>
          <a:solidFill>
            <a:srgbClr val="2D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641080" y="3840480"/>
            <a:ext cx="822960" cy="310896"/>
          </a:xfrm>
          <a:prstGeom prst="roundRect">
            <a:avLst/>
          </a:prstGeom>
          <a:solidFill>
            <a:srgbClr val="FF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79408" y="2743200"/>
            <a:ext cx="109728" cy="1033272"/>
          </a:xfrm>
          <a:prstGeom prst="rect">
            <a:avLst/>
          </a:prstGeom>
          <a:solidFill>
            <a:srgbClr val="A0B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15200" y="5010912"/>
            <a:ext cx="3474720" cy="164592"/>
          </a:xfrm>
          <a:prstGeom prst="roundRect">
            <a:avLst/>
          </a:prstGeom>
          <a:solidFill>
            <a:srgbClr val="7A5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1508760"/>
            <a:ext cx="4663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8FAFC"/>
                </a:solidFill>
                <a:latin typeface="Aptos Display"/>
              </a:rPr>
              <a:t>Obrigado!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331720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>
                <a:solidFill>
                  <a:srgbClr val="CDE1FF"/>
                </a:solidFill>
                <a:latin typeface="Aptos"/>
              </a:rPr>
              <a:t>Perguntas?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89331" y="6473952"/>
            <a:ext cx="172354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A0B4CD"/>
                </a:solidFill>
                <a:latin typeface="Aptos"/>
              </a:rPr>
              <a:t>FATEC • Torre de Hanói   |   </a:t>
            </a:r>
            <a:r>
              <a:rPr lang="pt-BR" sz="900" dirty="0">
                <a:solidFill>
                  <a:srgbClr val="A0B4CD"/>
                </a:solidFill>
                <a:latin typeface="Aptos"/>
              </a:rPr>
              <a:t>5</a:t>
            </a:r>
            <a:endParaRPr sz="900" dirty="0">
              <a:solidFill>
                <a:srgbClr val="A0B4CD"/>
              </a:solidFill>
              <a:latin typeface="Aptos"/>
            </a:endParaRP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159" y="1481328"/>
            <a:ext cx="1260000" cy="1260000"/>
          </a:xfrm>
          <a:prstGeom prst="rect">
            <a:avLst/>
          </a:prstGeom>
        </p:spPr>
      </p:pic>
      <p:pic>
        <p:nvPicPr>
          <p:cNvPr id="26" name="Imagem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159" y="3254156"/>
            <a:ext cx="1260000" cy="126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351</Words>
  <Application>Microsoft Office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LENOVO</dc:creator>
  <cp:keywords/>
  <dc:description>generated using python-pptx</dc:description>
  <cp:lastModifiedBy>LENOVO</cp:lastModifiedBy>
  <cp:revision>10</cp:revision>
  <dcterms:created xsi:type="dcterms:W3CDTF">2013-01-27T09:14:16Z</dcterms:created>
  <dcterms:modified xsi:type="dcterms:W3CDTF">2026-09-30T00:28:35Z</dcterms:modified>
  <cp:category/>
</cp:coreProperties>
</file>